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57" r:id="rId4"/>
    <p:sldId id="268" r:id="rId5"/>
    <p:sldId id="269" r:id="rId6"/>
    <p:sldId id="270" r:id="rId7"/>
    <p:sldId id="290" r:id="rId8"/>
    <p:sldId id="289" r:id="rId9"/>
    <p:sldId id="271" r:id="rId10"/>
    <p:sldId id="272" r:id="rId11"/>
    <p:sldId id="273" r:id="rId12"/>
    <p:sldId id="291" r:id="rId13"/>
    <p:sldId id="292" r:id="rId14"/>
    <p:sldId id="293" r:id="rId15"/>
    <p:sldId id="294" r:id="rId16"/>
    <p:sldId id="288" r:id="rId17"/>
    <p:sldId id="266" r:id="rId18"/>
  </p:sldIdLst>
  <p:sldSz cx="18288000" cy="10287000"/>
  <p:notesSz cx="6858000" cy="9144000"/>
  <p:embeddedFontLst>
    <p:embeddedFont>
      <p:font typeface="Alexandria Bold" panose="020B0604020202020204" charset="-78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Garet" panose="020B0604020202020204" charset="0"/>
      <p:regular r:id="rId25"/>
    </p:embeddedFont>
    <p:embeddedFont>
      <p:font typeface="Garet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38AF-BB6A-45AB-ABBA-1BC5AB9B5F83}" type="datetimeFigureOut">
              <a:rPr lang="en-PK" smtClean="0"/>
              <a:t>28/12/2025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B1BB5-0103-4F20-918B-1F1B052F15D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48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B1BB5-0103-4F20-918B-1F1B052F15D3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29215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19653" y="2782073"/>
            <a:ext cx="13790875" cy="3977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 Health Diagnosis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E13EC02-0530-440D-A505-82D90E579D7F}"/>
              </a:ext>
            </a:extLst>
          </p:cNvPr>
          <p:cNvSpPr txBox="1"/>
          <p:nvPr/>
        </p:nvSpPr>
        <p:spPr>
          <a:xfrm>
            <a:off x="4541415" y="145762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Presented By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10A61A8B-F83E-4338-94A2-9EC05B0194ED}"/>
              </a:ext>
            </a:extLst>
          </p:cNvPr>
          <p:cNvSpPr txBox="1"/>
          <p:nvPr/>
        </p:nvSpPr>
        <p:spPr>
          <a:xfrm>
            <a:off x="3116075" y="3496396"/>
            <a:ext cx="11400286" cy="5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Muhammad Ahmad Ijaz   (233566)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Abubakar  (233534)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Muhammad Umer (233538)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Abdul Moueed Alvi (233536)</a:t>
            </a:r>
          </a:p>
          <a:p>
            <a:pPr marL="457200" indent="-457200">
              <a:lnSpc>
                <a:spcPts val="4576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401623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01879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14600" y="2937898"/>
            <a:ext cx="14630400" cy="5384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AI-based health diagnosis web system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Predicts diseases from user symptoms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Uses Machine Learning (SVM)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Fast and user-friendly interface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Provides health guidance support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C1FE6D0-2F02-459A-8C8D-2AA9A8DBA15B}"/>
              </a:ext>
            </a:extLst>
          </p:cNvPr>
          <p:cNvSpPr txBox="1"/>
          <p:nvPr/>
        </p:nvSpPr>
        <p:spPr>
          <a:xfrm>
            <a:off x="4541415" y="1018796"/>
            <a:ext cx="10927185" cy="135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AA74A45D-8A2A-4F4F-AEBD-C188B88E297F}"/>
              </a:ext>
            </a:extLst>
          </p:cNvPr>
          <p:cNvSpPr txBox="1"/>
          <p:nvPr/>
        </p:nvSpPr>
        <p:spPr>
          <a:xfrm>
            <a:off x="2819053" y="3344010"/>
            <a:ext cx="14630400" cy="6492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Lack of instant medical guidance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Delayed doctor appointments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Unreliable online symptom searches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No confidence or severity indicators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/>
              <a:t>Risk of wrong self-diagnosis</a:t>
            </a:r>
          </a:p>
          <a:p>
            <a:pPr marL="571500" indent="-5715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2954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FF234BA-F303-4DD1-BDD5-58D673DDAD15}"/>
              </a:ext>
            </a:extLst>
          </p:cNvPr>
          <p:cNvSpPr txBox="1"/>
          <p:nvPr/>
        </p:nvSpPr>
        <p:spPr>
          <a:xfrm>
            <a:off x="3106857" y="3085380"/>
            <a:ext cx="15321693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Accept user symptoms easily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Predict diseases using ML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Show confidence and severity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medical recommendations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Ensure ethical AI usage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52800E2-C638-4C36-871E-C5108937E935}"/>
              </a:ext>
            </a:extLst>
          </p:cNvPr>
          <p:cNvSpPr txBox="1"/>
          <p:nvPr/>
        </p:nvSpPr>
        <p:spPr>
          <a:xfrm>
            <a:off x="4968031" y="723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28418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FF234BA-F303-4DD1-BDD5-58D673DDAD15}"/>
              </a:ext>
            </a:extLst>
          </p:cNvPr>
          <p:cNvSpPr txBox="1"/>
          <p:nvPr/>
        </p:nvSpPr>
        <p:spPr>
          <a:xfrm>
            <a:off x="2774180" y="2864390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Three-tier system architecture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for user interaction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for logic processing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ML model for predictions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REST API-based communication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BC97A400-2193-49A3-B50B-F27130341261}"/>
              </a:ext>
            </a:extLst>
          </p:cNvPr>
          <p:cNvSpPr txBox="1"/>
          <p:nvPr/>
        </p:nvSpPr>
        <p:spPr>
          <a:xfrm>
            <a:off x="4968031" y="723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119882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EBFBDD-9510-444E-B533-9BCA78CF4A4B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15D72AB-4699-4C0D-8EFB-37CE04A9D26C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075FD9DD-3630-4E74-A4B7-65D25F1C7DD9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F6788191-FB8E-45CF-80AB-48763A4D41FF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CEC9F7B-EF8B-4FAA-9D57-743D4AADDAF1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425CB35-98BA-4768-A545-F7DAB6CC1A27}"/>
              </a:ext>
            </a:extLst>
          </p:cNvPr>
          <p:cNvSpPr txBox="1"/>
          <p:nvPr/>
        </p:nvSpPr>
        <p:spPr>
          <a:xfrm>
            <a:off x="2500360" y="2754835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Presentation layer (Frontend)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Application layer (Backend)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Intelligence layer (ML Model)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Client-server interaction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Modular and scalable design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52CA0F8-2E3A-4690-A3FB-368E67FD3A26}"/>
              </a:ext>
            </a:extLst>
          </p:cNvPr>
          <p:cNvSpPr txBox="1"/>
          <p:nvPr/>
        </p:nvSpPr>
        <p:spPr>
          <a:xfrm>
            <a:off x="4968031" y="723900"/>
            <a:ext cx="10819609" cy="132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Architecture Overview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26DC435-1D08-4989-8DB9-5AFC212DF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96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A9864E66-0180-48A7-9761-5F2308BD84F3}"/>
              </a:ext>
            </a:extLst>
          </p:cNvPr>
          <p:cNvSpPr txBox="1"/>
          <p:nvPr/>
        </p:nvSpPr>
        <p:spPr>
          <a:xfrm>
            <a:off x="4968031" y="723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ML Pipeline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E0C0CF0-A34F-4B1D-BE47-50BDE0F16232}"/>
              </a:ext>
            </a:extLst>
          </p:cNvPr>
          <p:cNvSpPr txBox="1"/>
          <p:nvPr/>
        </p:nvSpPr>
        <p:spPr>
          <a:xfrm>
            <a:off x="2500360" y="2754835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Load medical dataset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Encode symptoms as features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 SVM classifier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Evaluate model accuracy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Save trained model</a:t>
            </a:r>
          </a:p>
        </p:txBody>
      </p:sp>
    </p:spTree>
    <p:extLst>
      <p:ext uri="{BB962C8B-B14F-4D97-AF65-F5344CB8AC3E}">
        <p14:creationId xmlns:p14="http://schemas.microsoft.com/office/powerpoint/2010/main" val="569143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38371DB-D58B-4EFC-803A-0304D185FC97}"/>
              </a:ext>
            </a:extLst>
          </p:cNvPr>
          <p:cNvSpPr txBox="1"/>
          <p:nvPr/>
        </p:nvSpPr>
        <p:spPr>
          <a:xfrm>
            <a:off x="4968031" y="723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API Endpoints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070544FB-D0DC-4C9B-B444-E175E0FF0763}"/>
              </a:ext>
            </a:extLst>
          </p:cNvPr>
          <p:cNvSpPr txBox="1"/>
          <p:nvPr/>
        </p:nvSpPr>
        <p:spPr>
          <a:xfrm>
            <a:off x="2500360" y="2754835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/predict for diagnosis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/get-symptoms endpoint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/get-diseases endpoint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/save-report endpoint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/get-metrics endpoint</a:t>
            </a:r>
          </a:p>
        </p:txBody>
      </p:sp>
    </p:spTree>
    <p:extLst>
      <p:ext uri="{BB962C8B-B14F-4D97-AF65-F5344CB8AC3E}">
        <p14:creationId xmlns:p14="http://schemas.microsoft.com/office/powerpoint/2010/main" val="209263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A20381B4-45B3-45B6-81BF-76E929459213}"/>
              </a:ext>
            </a:extLst>
          </p:cNvPr>
          <p:cNvSpPr txBox="1"/>
          <p:nvPr/>
        </p:nvSpPr>
        <p:spPr>
          <a:xfrm>
            <a:off x="4968031" y="342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Frontend Pages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B015A165-211A-4C2F-A6C7-FCC0868BA5EC}"/>
              </a:ext>
            </a:extLst>
          </p:cNvPr>
          <p:cNvSpPr txBox="1"/>
          <p:nvPr/>
        </p:nvSpPr>
        <p:spPr>
          <a:xfrm>
            <a:off x="2500360" y="2754835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Login and Signup page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dashboard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Diagnosis page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Reports history page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Disease information page</a:t>
            </a:r>
          </a:p>
        </p:txBody>
      </p:sp>
    </p:spTree>
    <p:extLst>
      <p:ext uri="{BB962C8B-B14F-4D97-AF65-F5344CB8AC3E}">
        <p14:creationId xmlns:p14="http://schemas.microsoft.com/office/powerpoint/2010/main" val="392106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FF234BA-F303-4DD1-BDD5-58D673DDAD15}"/>
              </a:ext>
            </a:extLst>
          </p:cNvPr>
          <p:cNvSpPr txBox="1"/>
          <p:nvPr/>
        </p:nvSpPr>
        <p:spPr>
          <a:xfrm>
            <a:off x="3020291" y="2795613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Python for backend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Flask framework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HTML, CSS, JavaScript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scikit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-learn library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Chart.js visualization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E21776D-7FDC-4F0F-8A23-4D608E75A446}"/>
              </a:ext>
            </a:extLst>
          </p:cNvPr>
          <p:cNvSpPr txBox="1"/>
          <p:nvPr/>
        </p:nvSpPr>
        <p:spPr>
          <a:xfrm>
            <a:off x="4968031" y="542307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424827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E15AC9-6A83-4455-86EC-E96ADB0A33F9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BDC06E53-68E2-4C25-86AF-76A122E16271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13083510-82CC-446F-960F-3D357F755A64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8EE56690-64B4-4281-BE71-836C24FEF4E0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3A8FDD2-64F5-420C-913C-AE75DC9D8790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7B73C23-DC07-4B69-9708-F3C9D7B821DC}"/>
              </a:ext>
            </a:extLst>
          </p:cNvPr>
          <p:cNvSpPr txBox="1"/>
          <p:nvPr/>
        </p:nvSpPr>
        <p:spPr>
          <a:xfrm>
            <a:off x="3438843" y="3779226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Flask REST API server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Loads ML model at startup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Handles prediction requests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Manages user authentication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Returns JSON responses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05146CD-623E-48DB-A863-CC1F88A1C874}"/>
              </a:ext>
            </a:extLst>
          </p:cNvPr>
          <p:cNvSpPr txBox="1"/>
          <p:nvPr/>
        </p:nvSpPr>
        <p:spPr>
          <a:xfrm>
            <a:off x="4968031" y="542307"/>
            <a:ext cx="9205169" cy="272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48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Backend Implementation (Flask API)</a:t>
            </a:r>
          </a:p>
        </p:txBody>
      </p:sp>
    </p:spTree>
    <p:extLst>
      <p:ext uri="{BB962C8B-B14F-4D97-AF65-F5344CB8AC3E}">
        <p14:creationId xmlns:p14="http://schemas.microsoft.com/office/powerpoint/2010/main" val="425904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1E3E29-555A-473C-89B6-C8E43E614213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EDC47E9E-5E90-46F4-915E-9CF7648CF360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E29ADFF0-00C7-4C20-8BD7-16B768A65A01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ACDEF4A0-D03D-4477-86E9-B5CF662B998B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E693445-4B60-4906-87B4-C3777E095CD7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D0700DA-F223-431C-AB97-493D570F9C5F}"/>
              </a:ext>
            </a:extLst>
          </p:cNvPr>
          <p:cNvSpPr txBox="1"/>
          <p:nvPr/>
        </p:nvSpPr>
        <p:spPr>
          <a:xfrm>
            <a:off x="3020291" y="2795613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Load symptom-disease dataset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Convert symptoms to binary form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 SVM classifier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Calculate accuracy metrics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Save trained model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2343709-5C07-47D1-ACB1-777CF64E2323}"/>
              </a:ext>
            </a:extLst>
          </p:cNvPr>
          <p:cNvSpPr txBox="1"/>
          <p:nvPr/>
        </p:nvSpPr>
        <p:spPr>
          <a:xfrm>
            <a:off x="4968031" y="542307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ML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564489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51932E-8A0B-4B71-9E7E-F16FA8F31152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FEF5E24-B785-4D60-9060-81A2A6DACFE4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08430F75-3DBE-4079-B7EE-D619B9F76617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9E21FEDA-B1CA-4D73-8255-D2EEF21AFAC6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7D0A32E-C2BC-4E50-9561-C6F05EC4BC90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A0112E0-6BF6-4246-9A5F-DB306A5A2BD7}"/>
              </a:ext>
            </a:extLst>
          </p:cNvPr>
          <p:cNvSpPr txBox="1"/>
          <p:nvPr/>
        </p:nvSpPr>
        <p:spPr>
          <a:xfrm>
            <a:off x="3020291" y="2795613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symptom input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Binary vector generation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SVM disease prediction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Confidence score calculation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Return top results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6E22C48-503C-4295-B726-BE2E1D31FB15}"/>
              </a:ext>
            </a:extLst>
          </p:cNvPr>
          <p:cNvSpPr txBox="1"/>
          <p:nvPr/>
        </p:nvSpPr>
        <p:spPr>
          <a:xfrm>
            <a:off x="4968031" y="542307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Prediction Pipeline</a:t>
            </a:r>
          </a:p>
        </p:txBody>
      </p:sp>
    </p:spTree>
    <p:extLst>
      <p:ext uri="{BB962C8B-B14F-4D97-AF65-F5344CB8AC3E}">
        <p14:creationId xmlns:p14="http://schemas.microsoft.com/office/powerpoint/2010/main" val="3880379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39A0DC-6B74-466A-9B88-8DCEE53E759C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E8B6AABD-3103-4B3E-8C0F-600A96EEF93D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6BD47EB7-BC4E-4220-9743-B44E38FC335F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08CA3C27-3C8D-4406-90A8-CF6886F91305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FA6B0DA-B4AA-4A97-892D-EC3C20F35BF7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31AE309-7D0A-4647-8007-EA1A31C2B0F9}"/>
              </a:ext>
            </a:extLst>
          </p:cNvPr>
          <p:cNvSpPr txBox="1"/>
          <p:nvPr/>
        </p:nvSpPr>
        <p:spPr>
          <a:xfrm>
            <a:off x="3020291" y="2795613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authentication system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Report saving feature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Voice symptom input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Error handling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visualization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BD6F1E7D-A24F-4E19-9011-4B5988A5B311}"/>
              </a:ext>
            </a:extLst>
          </p:cNvPr>
          <p:cNvSpPr txBox="1"/>
          <p:nvPr/>
        </p:nvSpPr>
        <p:spPr>
          <a:xfrm>
            <a:off x="4968031" y="542307"/>
            <a:ext cx="10652969" cy="132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Others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818938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FF234BA-F303-4DD1-BDD5-58D673DDAD15}"/>
              </a:ext>
            </a:extLst>
          </p:cNvPr>
          <p:cNvSpPr txBox="1"/>
          <p:nvPr/>
        </p:nvSpPr>
        <p:spPr>
          <a:xfrm>
            <a:off x="2824826" y="2923885"/>
            <a:ext cx="13939173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health system successfully developed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SVM proved effective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Expand disease database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Add mobile application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Integrate doctor consultation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58063A6-DEE3-48BD-A8CF-9BE6BE864A47}"/>
              </a:ext>
            </a:extLst>
          </p:cNvPr>
          <p:cNvSpPr txBox="1"/>
          <p:nvPr/>
        </p:nvSpPr>
        <p:spPr>
          <a:xfrm>
            <a:off x="4968031" y="694707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10054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15</a:t>
            </a:r>
            <a:endParaRPr lang="en-US" sz="4743" b="1" dirty="0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321</Words>
  <Application>Microsoft Office PowerPoint</Application>
  <PresentationFormat>Custom</PresentationFormat>
  <Paragraphs>107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Alexandria Bold</vt:lpstr>
      <vt:lpstr>Garet</vt:lpstr>
      <vt:lpstr>Calibri</vt:lpstr>
      <vt:lpstr>Arial</vt:lpstr>
      <vt:lpstr>Garet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dc:creator>Alam</dc:creator>
  <cp:lastModifiedBy>Alam</cp:lastModifiedBy>
  <cp:revision>30</cp:revision>
  <dcterms:created xsi:type="dcterms:W3CDTF">2006-08-16T00:00:00Z</dcterms:created>
  <dcterms:modified xsi:type="dcterms:W3CDTF">2025-12-27T23:42:23Z</dcterms:modified>
  <dc:identifier>DAG1gzgPtlE</dc:identifier>
</cp:coreProperties>
</file>