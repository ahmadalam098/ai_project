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8"/>
  </p:notesMasterIdLst>
  <p:sldIdLst>
    <p:sldId id="256" r:id="rId2"/>
    <p:sldId id="267" r:id="rId3"/>
    <p:sldId id="257" r:id="rId4"/>
    <p:sldId id="268" r:id="rId5"/>
    <p:sldId id="269" r:id="rId6"/>
    <p:sldId id="270" r:id="rId7"/>
    <p:sldId id="290" r:id="rId8"/>
    <p:sldId id="289" r:id="rId9"/>
    <p:sldId id="271" r:id="rId10"/>
    <p:sldId id="272" r:id="rId11"/>
    <p:sldId id="273" r:id="rId12"/>
    <p:sldId id="291" r:id="rId13"/>
    <p:sldId id="292" r:id="rId14"/>
    <p:sldId id="293" r:id="rId15"/>
    <p:sldId id="288" r:id="rId16"/>
    <p:sldId id="266" r:id="rId17"/>
  </p:sldIdLst>
  <p:sldSz cx="18288000" cy="10287000"/>
  <p:notesSz cx="6858000" cy="9144000"/>
  <p:embeddedFontLst>
    <p:embeddedFont>
      <p:font typeface="Alexandria Bold" panose="020B0604020202020204" charset="-78"/>
      <p:regular r:id="rId19"/>
    </p:embeddedFont>
    <p:embeddedFont>
      <p:font typeface="Calibri" panose="020F0502020204030204" pitchFamily="34" charset="0"/>
      <p:regular r:id="rId20"/>
      <p:bold r:id="rId21"/>
      <p:italic r:id="rId22"/>
      <p:boldItalic r:id="rId23"/>
    </p:embeddedFont>
    <p:embeddedFont>
      <p:font typeface="Garet" panose="020B0604020202020204" charset="0"/>
      <p:regular r:id="rId24"/>
    </p:embeddedFont>
    <p:embeddedFont>
      <p:font typeface="Garet Bold" panose="020B0604020202020204" charset="0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6" d="100"/>
          <a:sy n="46" d="100"/>
        </p:scale>
        <p:origin x="756" y="5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6038AF-BB6A-45AB-ABBA-1BC5AB9B5F83}" type="datetimeFigureOut">
              <a:rPr lang="en-PK" smtClean="0"/>
              <a:t>26/12/2025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DB1BB5-0103-4F20-918B-1F1B052F15D3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714841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K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DB1BB5-0103-4F20-918B-1F1B052F15D3}" type="slidenum">
              <a:rPr lang="en-PK" smtClean="0"/>
              <a:t>3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2921502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3890343" y="5516388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12327" flipH="1">
            <a:off x="-1633813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2020970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6744" flipV="1">
            <a:off x="12281842" y="-3234705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2348517" y="-3496396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208670" y="2763241"/>
            <a:ext cx="14248075" cy="397775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6107"/>
              </a:lnSpc>
            </a:pPr>
            <a:r>
              <a:rPr lang="en-US" sz="11505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AI Health Diagnosis System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5400000" flipH="1" flipV="1">
            <a:off x="13890343" y="5516388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4840371" y="6758253"/>
                </a:moveTo>
                <a:lnTo>
                  <a:pt x="0" y="6758253"/>
                </a:lnTo>
                <a:lnTo>
                  <a:pt x="0" y="0"/>
                </a:lnTo>
                <a:lnTo>
                  <a:pt x="4840371" y="0"/>
                </a:lnTo>
                <a:lnTo>
                  <a:pt x="4840371" y="6758253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rot="-212327" flipH="1">
            <a:off x="-1633813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flipH="1">
            <a:off x="-2020970" y="4706943"/>
            <a:ext cx="7684967" cy="7684967"/>
          </a:xfrm>
          <a:custGeom>
            <a:avLst/>
            <a:gdLst/>
            <a:ahLst/>
            <a:cxnLst/>
            <a:rect l="l" t="t" r="r" b="b"/>
            <a:pathLst>
              <a:path w="7684967" h="7684967">
                <a:moveTo>
                  <a:pt x="7684968" y="0"/>
                </a:moveTo>
                <a:lnTo>
                  <a:pt x="0" y="0"/>
                </a:lnTo>
                <a:lnTo>
                  <a:pt x="0" y="7684968"/>
                </a:lnTo>
                <a:lnTo>
                  <a:pt x="7684968" y="7684968"/>
                </a:lnTo>
                <a:lnTo>
                  <a:pt x="7684968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 rot="-176744" flipV="1">
            <a:off x="12281842" y="-3234705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2348517" y="-3496396"/>
            <a:ext cx="6992792" cy="6992792"/>
          </a:xfrm>
          <a:custGeom>
            <a:avLst/>
            <a:gdLst/>
            <a:ahLst/>
            <a:cxnLst/>
            <a:rect l="l" t="t" r="r" b="b"/>
            <a:pathLst>
              <a:path w="6992792" h="6992792">
                <a:moveTo>
                  <a:pt x="0" y="6992792"/>
                </a:moveTo>
                <a:lnTo>
                  <a:pt x="6992792" y="6992792"/>
                </a:lnTo>
                <a:lnTo>
                  <a:pt x="6992792" y="0"/>
                </a:lnTo>
                <a:lnTo>
                  <a:pt x="0" y="0"/>
                </a:lnTo>
                <a:lnTo>
                  <a:pt x="0" y="6992792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FE13EC02-0530-440D-A505-82D90E579D7F}"/>
              </a:ext>
            </a:extLst>
          </p:cNvPr>
          <p:cNvSpPr txBox="1"/>
          <p:nvPr/>
        </p:nvSpPr>
        <p:spPr>
          <a:xfrm>
            <a:off x="4541415" y="1457621"/>
            <a:ext cx="9205169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Presented By</a:t>
            </a: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10A61A8B-F83E-4338-94A2-9EC05B0194ED}"/>
              </a:ext>
            </a:extLst>
          </p:cNvPr>
          <p:cNvSpPr txBox="1"/>
          <p:nvPr/>
        </p:nvSpPr>
        <p:spPr>
          <a:xfrm>
            <a:off x="3323175" y="3496396"/>
            <a:ext cx="11400286" cy="54925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4000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Muhammad Ahmad Ijaz   (233566)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4000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Abubakar  (233534)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4000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Muhammad Umer (233538)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4000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Abdul Moueed Alvi (233536)</a:t>
            </a:r>
          </a:p>
          <a:p>
            <a:pPr marL="457200" indent="-457200">
              <a:lnSpc>
                <a:spcPts val="4576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sz="3268" dirty="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</p:spTree>
    <p:extLst>
      <p:ext uri="{BB962C8B-B14F-4D97-AF65-F5344CB8AC3E}">
        <p14:creationId xmlns:p14="http://schemas.microsoft.com/office/powerpoint/2010/main" val="40162317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541415" y="1018796"/>
            <a:ext cx="9205169" cy="13924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Introduction</a:t>
            </a: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034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01</a:t>
            </a: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8CD3FEBF-6BC3-43FC-AAAA-D769AB075C6C}"/>
              </a:ext>
            </a:extLst>
          </p:cNvPr>
          <p:cNvSpPr txBox="1"/>
          <p:nvPr/>
        </p:nvSpPr>
        <p:spPr>
          <a:xfrm>
            <a:off x="2514600" y="2667613"/>
            <a:ext cx="11400286" cy="60016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4000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AI-based health diagnosis web system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4000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Predicts diseases from user symptoms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4000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Uses Machine Learning (SVM model)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4000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Fast and user-friendly interface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4000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Provides confidence-based results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02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2C1FE6D0-2F02-459A-8C8D-2AA9A8DBA15B}"/>
              </a:ext>
            </a:extLst>
          </p:cNvPr>
          <p:cNvSpPr txBox="1"/>
          <p:nvPr/>
        </p:nvSpPr>
        <p:spPr>
          <a:xfrm>
            <a:off x="4541415" y="664940"/>
            <a:ext cx="11079585" cy="13555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8177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Problem Statement</a:t>
            </a: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FB5582F0-00E5-42A2-BED9-68A11539761E}"/>
              </a:ext>
            </a:extLst>
          </p:cNvPr>
          <p:cNvSpPr txBox="1"/>
          <p:nvPr/>
        </p:nvSpPr>
        <p:spPr>
          <a:xfrm>
            <a:off x="2212452" y="2242792"/>
            <a:ext cx="14130377" cy="72327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4000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Lack of instant and reliable medical guidance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4000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Delayed doctor appointments and consultations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4000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Unreliable online symptom-based searches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4000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Absence of confidence and severity indicators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4000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Need for a trustable, interpretable AI-based health solution</a:t>
            </a:r>
          </a:p>
        </p:txBody>
      </p:sp>
    </p:spTree>
    <p:extLst>
      <p:ext uri="{BB962C8B-B14F-4D97-AF65-F5344CB8AC3E}">
        <p14:creationId xmlns:p14="http://schemas.microsoft.com/office/powerpoint/2010/main" val="5295404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048000" y="3334674"/>
            <a:ext cx="11400286" cy="880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sz="3268" dirty="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03</a:t>
            </a:r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6FF234BA-F303-4DD1-BDD5-58D673DDAD15}"/>
              </a:ext>
            </a:extLst>
          </p:cNvPr>
          <p:cNvSpPr txBox="1"/>
          <p:nvPr/>
        </p:nvSpPr>
        <p:spPr>
          <a:xfrm>
            <a:off x="2514600" y="2691867"/>
            <a:ext cx="15321693" cy="4903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Accept and analyze user symptoms efficiently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Predict diseases using a Machine Learning model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Display confidence percentages and severity levels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Provide medical, prevention, and dietary recommendations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Ensure ethical AI use with secure user authentication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F52800E2-C638-4C36-871E-C5108937E935}"/>
              </a:ext>
            </a:extLst>
          </p:cNvPr>
          <p:cNvSpPr txBox="1"/>
          <p:nvPr/>
        </p:nvSpPr>
        <p:spPr>
          <a:xfrm>
            <a:off x="4968031" y="723900"/>
            <a:ext cx="9205169" cy="1324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7200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Objectives</a:t>
            </a:r>
          </a:p>
        </p:txBody>
      </p:sp>
    </p:spTree>
    <p:extLst>
      <p:ext uri="{BB962C8B-B14F-4D97-AF65-F5344CB8AC3E}">
        <p14:creationId xmlns:p14="http://schemas.microsoft.com/office/powerpoint/2010/main" val="42841806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048000" y="3334674"/>
            <a:ext cx="11400286" cy="880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sz="3268" dirty="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04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BC97A400-2193-49A3-B50B-F27130341261}"/>
              </a:ext>
            </a:extLst>
          </p:cNvPr>
          <p:cNvSpPr txBox="1"/>
          <p:nvPr/>
        </p:nvSpPr>
        <p:spPr>
          <a:xfrm>
            <a:off x="4769920" y="673987"/>
            <a:ext cx="9814769" cy="13245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7200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System Design</a:t>
            </a: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3F1FFEE8-B9E8-4349-99EB-E6C6CDC48BB1}"/>
              </a:ext>
            </a:extLst>
          </p:cNvPr>
          <p:cNvSpPr txBox="1"/>
          <p:nvPr/>
        </p:nvSpPr>
        <p:spPr>
          <a:xfrm>
            <a:off x="2514600" y="2691867"/>
            <a:ext cx="15321693" cy="4903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Three-tier architecture: Frontend, Backend, and ML model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Frontend handles user interaction and input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Backend manages logic and REST API communication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Machine Learning model performs disease prediction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Modular, secure, and scalable system with clear user flow</a:t>
            </a:r>
          </a:p>
        </p:txBody>
      </p:sp>
    </p:spTree>
    <p:extLst>
      <p:ext uri="{BB962C8B-B14F-4D97-AF65-F5344CB8AC3E}">
        <p14:creationId xmlns:p14="http://schemas.microsoft.com/office/powerpoint/2010/main" val="11988201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FEBFBDD-9510-444E-B533-9BCA78CF4A4B}"/>
              </a:ext>
            </a:extLst>
          </p:cNvPr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A15D72AB-4699-4C0D-8EFB-37CE04A9D26C}"/>
              </a:ext>
            </a:extLst>
          </p:cNvPr>
          <p:cNvSpPr txBox="1"/>
          <p:nvPr/>
        </p:nvSpPr>
        <p:spPr>
          <a:xfrm>
            <a:off x="3048000" y="3334674"/>
            <a:ext cx="11400286" cy="880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sz="3268" dirty="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075FD9DD-3630-4E74-A4B7-65D25F1C7DD9}"/>
              </a:ext>
            </a:extLst>
          </p:cNvPr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6">
            <a:extLst>
              <a:ext uri="{FF2B5EF4-FFF2-40B4-BE49-F238E27FC236}">
                <a16:creationId xmlns:a16="http://schemas.microsoft.com/office/drawing/2014/main" id="{F6788191-FB8E-45CF-80AB-48763A4D41FF}"/>
              </a:ext>
            </a:extLst>
          </p:cNvPr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3CEC9F7B-EF8B-4FAA-9D57-743D4AADDAF1}"/>
              </a:ext>
            </a:extLst>
          </p:cNvPr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05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3425CB35-98BA-4768-A545-F7DAB6CC1A27}"/>
              </a:ext>
            </a:extLst>
          </p:cNvPr>
          <p:cNvSpPr txBox="1"/>
          <p:nvPr/>
        </p:nvSpPr>
        <p:spPr>
          <a:xfrm>
            <a:off x="2500360" y="2249563"/>
            <a:ext cx="12739640" cy="4903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Disease-symptom dataset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Disease information JSON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Symptom list data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Model performance metrics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Structured medical records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952CA0F8-2E3A-4690-A3FB-368E67FD3A26}"/>
              </a:ext>
            </a:extLst>
          </p:cNvPr>
          <p:cNvSpPr txBox="1"/>
          <p:nvPr/>
        </p:nvSpPr>
        <p:spPr>
          <a:xfrm>
            <a:off x="4968031" y="723900"/>
            <a:ext cx="9205169" cy="1324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7200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Data Components</a:t>
            </a:r>
          </a:p>
        </p:txBody>
      </p:sp>
    </p:spTree>
    <p:extLst>
      <p:ext uri="{BB962C8B-B14F-4D97-AF65-F5344CB8AC3E}">
        <p14:creationId xmlns:p14="http://schemas.microsoft.com/office/powerpoint/2010/main" val="684396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048000" y="3334674"/>
            <a:ext cx="11400286" cy="880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sz="3268" dirty="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06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A9864E66-0180-48A7-9761-5F2308BD84F3}"/>
              </a:ext>
            </a:extLst>
          </p:cNvPr>
          <p:cNvSpPr txBox="1"/>
          <p:nvPr/>
        </p:nvSpPr>
        <p:spPr>
          <a:xfrm>
            <a:off x="4968031" y="723900"/>
            <a:ext cx="9665981" cy="12675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5400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Machine Learning Pipeline</a:t>
            </a: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ECAB4355-6AEB-47A8-A228-BF7E14CA7CD6}"/>
              </a:ext>
            </a:extLst>
          </p:cNvPr>
          <p:cNvSpPr txBox="1"/>
          <p:nvPr/>
        </p:nvSpPr>
        <p:spPr>
          <a:xfrm>
            <a:off x="2500360" y="2249563"/>
            <a:ext cx="12739640" cy="4903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Load medical dataset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Encode symptoms as features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Train SVM classifier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Evaluate model accuracy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Save trained model</a:t>
            </a:r>
          </a:p>
        </p:txBody>
      </p:sp>
    </p:spTree>
    <p:extLst>
      <p:ext uri="{BB962C8B-B14F-4D97-AF65-F5344CB8AC3E}">
        <p14:creationId xmlns:p14="http://schemas.microsoft.com/office/powerpoint/2010/main" val="5691435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048000" y="3334674"/>
            <a:ext cx="11400286" cy="880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sz="3268" dirty="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07</a:t>
            </a:r>
          </a:p>
        </p:txBody>
      </p:sp>
      <p:sp>
        <p:nvSpPr>
          <p:cNvPr id="10" name="TextBox 3">
            <a:extLst>
              <a:ext uri="{FF2B5EF4-FFF2-40B4-BE49-F238E27FC236}">
                <a16:creationId xmlns:a16="http://schemas.microsoft.com/office/drawing/2014/main" id="{538371DB-D58B-4EFC-803A-0304D185FC97}"/>
              </a:ext>
            </a:extLst>
          </p:cNvPr>
          <p:cNvSpPr txBox="1"/>
          <p:nvPr/>
        </p:nvSpPr>
        <p:spPr>
          <a:xfrm>
            <a:off x="4968031" y="723900"/>
            <a:ext cx="9205169" cy="1324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7200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API Endpoints</a:t>
            </a:r>
          </a:p>
        </p:txBody>
      </p:sp>
      <p:sp>
        <p:nvSpPr>
          <p:cNvPr id="12" name="TextBox 4">
            <a:extLst>
              <a:ext uri="{FF2B5EF4-FFF2-40B4-BE49-F238E27FC236}">
                <a16:creationId xmlns:a16="http://schemas.microsoft.com/office/drawing/2014/main" id="{FEAE0276-5683-41EF-8A90-11CBA8C5189D}"/>
              </a:ext>
            </a:extLst>
          </p:cNvPr>
          <p:cNvSpPr txBox="1"/>
          <p:nvPr/>
        </p:nvSpPr>
        <p:spPr>
          <a:xfrm>
            <a:off x="2774180" y="2533222"/>
            <a:ext cx="12739640" cy="4903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/predict for diagnosis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/get-symptoms endpoint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/get-diseases endpoint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/save-report endpoint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/get-metrics endpoint</a:t>
            </a:r>
          </a:p>
        </p:txBody>
      </p:sp>
    </p:spTree>
    <p:extLst>
      <p:ext uri="{BB962C8B-B14F-4D97-AF65-F5344CB8AC3E}">
        <p14:creationId xmlns:p14="http://schemas.microsoft.com/office/powerpoint/2010/main" val="20926341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048000" y="3334674"/>
            <a:ext cx="11400286" cy="880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sz="3268" dirty="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08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A20381B4-45B3-45B6-81BF-76E929459213}"/>
              </a:ext>
            </a:extLst>
          </p:cNvPr>
          <p:cNvSpPr txBox="1"/>
          <p:nvPr/>
        </p:nvSpPr>
        <p:spPr>
          <a:xfrm>
            <a:off x="4968031" y="342900"/>
            <a:ext cx="9205169" cy="1324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7200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Frontend Pages</a:t>
            </a:r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B31DF722-7E60-4E66-8017-BAD5980A5375}"/>
              </a:ext>
            </a:extLst>
          </p:cNvPr>
          <p:cNvSpPr txBox="1"/>
          <p:nvPr/>
        </p:nvSpPr>
        <p:spPr>
          <a:xfrm>
            <a:off x="3048000" y="2571961"/>
            <a:ext cx="12739640" cy="4903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Login and Signup page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User dashboard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Diagnosis page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Reports history page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Disease information page</a:t>
            </a:r>
          </a:p>
        </p:txBody>
      </p:sp>
    </p:spTree>
    <p:extLst>
      <p:ext uri="{BB962C8B-B14F-4D97-AF65-F5344CB8AC3E}">
        <p14:creationId xmlns:p14="http://schemas.microsoft.com/office/powerpoint/2010/main" val="3921064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048000" y="3334674"/>
            <a:ext cx="11400286" cy="880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sz="3268" dirty="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09</a:t>
            </a:r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6FF234BA-F303-4DD1-BDD5-58D673DDAD15}"/>
              </a:ext>
            </a:extLst>
          </p:cNvPr>
          <p:cNvSpPr txBox="1"/>
          <p:nvPr/>
        </p:nvSpPr>
        <p:spPr>
          <a:xfrm>
            <a:off x="3048000" y="2795613"/>
            <a:ext cx="13411200" cy="4903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User authentication process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Symptom selection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Request sent to backend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Model prediction execution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Results shown to user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CE21776D-7FDC-4F0F-8A23-4D608E75A446}"/>
              </a:ext>
            </a:extLst>
          </p:cNvPr>
          <p:cNvSpPr txBox="1"/>
          <p:nvPr/>
        </p:nvSpPr>
        <p:spPr>
          <a:xfrm>
            <a:off x="4968031" y="542307"/>
            <a:ext cx="11246225" cy="13245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7200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User Flow Methodology</a:t>
            </a:r>
          </a:p>
        </p:txBody>
      </p:sp>
    </p:spTree>
    <p:extLst>
      <p:ext uri="{BB962C8B-B14F-4D97-AF65-F5344CB8AC3E}">
        <p14:creationId xmlns:p14="http://schemas.microsoft.com/office/powerpoint/2010/main" val="42482767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8CAF3C26-12EE-4F5D-96EC-E56D3749D8E5}"/>
              </a:ext>
            </a:extLst>
          </p:cNvPr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084DE742-CC2B-44FB-A959-12CAD4D39348}"/>
              </a:ext>
            </a:extLst>
          </p:cNvPr>
          <p:cNvSpPr txBox="1"/>
          <p:nvPr/>
        </p:nvSpPr>
        <p:spPr>
          <a:xfrm>
            <a:off x="3048000" y="3334674"/>
            <a:ext cx="11400286" cy="880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sz="3268" dirty="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7CF46DBA-E635-4D83-94EC-6E3AA249EA69}"/>
              </a:ext>
            </a:extLst>
          </p:cNvPr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6">
            <a:extLst>
              <a:ext uri="{FF2B5EF4-FFF2-40B4-BE49-F238E27FC236}">
                <a16:creationId xmlns:a16="http://schemas.microsoft.com/office/drawing/2014/main" id="{4314DAC4-07D5-40E4-8525-79A0E5692810}"/>
              </a:ext>
            </a:extLst>
          </p:cNvPr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BCC70683-F6CE-4168-9801-A97E769D528E}"/>
              </a:ext>
            </a:extLst>
          </p:cNvPr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10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1F8F4D88-0D89-4C10-8EEC-99546958558F}"/>
              </a:ext>
            </a:extLst>
          </p:cNvPr>
          <p:cNvSpPr txBox="1"/>
          <p:nvPr/>
        </p:nvSpPr>
        <p:spPr>
          <a:xfrm>
            <a:off x="3118864" y="3774730"/>
            <a:ext cx="13411200" cy="4903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Load symptom-disease dataset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Convert symptoms to binary form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Train SVM classifier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Calculate accuracy metrics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Save trained model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18348CD5-5022-4335-93E2-1F197EB2AE28}"/>
              </a:ext>
            </a:extLst>
          </p:cNvPr>
          <p:cNvSpPr txBox="1"/>
          <p:nvPr/>
        </p:nvSpPr>
        <p:spPr>
          <a:xfrm>
            <a:off x="4742211" y="501101"/>
            <a:ext cx="11246225" cy="2767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7200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Machine Learning Model Training</a:t>
            </a:r>
          </a:p>
        </p:txBody>
      </p:sp>
    </p:spTree>
    <p:extLst>
      <p:ext uri="{BB962C8B-B14F-4D97-AF65-F5344CB8AC3E}">
        <p14:creationId xmlns:p14="http://schemas.microsoft.com/office/powerpoint/2010/main" val="11953391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719F3B1-5CBB-4D50-92A1-76D9495E3C92}"/>
              </a:ext>
            </a:extLst>
          </p:cNvPr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2E711E9C-A0CD-4B00-BFDF-47BCCFEEB85F}"/>
              </a:ext>
            </a:extLst>
          </p:cNvPr>
          <p:cNvSpPr txBox="1"/>
          <p:nvPr/>
        </p:nvSpPr>
        <p:spPr>
          <a:xfrm>
            <a:off x="3048000" y="3334674"/>
            <a:ext cx="11400286" cy="880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sz="3268" dirty="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F332F483-D818-4F89-80FB-569F5E22A540}"/>
              </a:ext>
            </a:extLst>
          </p:cNvPr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6">
            <a:extLst>
              <a:ext uri="{FF2B5EF4-FFF2-40B4-BE49-F238E27FC236}">
                <a16:creationId xmlns:a16="http://schemas.microsoft.com/office/drawing/2014/main" id="{322B872C-974C-4A0F-B069-302FCB7F2D00}"/>
              </a:ext>
            </a:extLst>
          </p:cNvPr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153B4246-6CDA-45D5-B694-4FFD8517A118}"/>
              </a:ext>
            </a:extLst>
          </p:cNvPr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11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E901972C-FEF3-445C-AA33-CC39A9AD38D0}"/>
              </a:ext>
            </a:extLst>
          </p:cNvPr>
          <p:cNvSpPr txBox="1"/>
          <p:nvPr/>
        </p:nvSpPr>
        <p:spPr>
          <a:xfrm>
            <a:off x="3048000" y="2795613"/>
            <a:ext cx="13411200" cy="4903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User symptom input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Binary vector generation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SVM disease prediction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Confidence score calculation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Return top results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DCA06A56-6A9D-4C68-B405-02650E5BC652}"/>
              </a:ext>
            </a:extLst>
          </p:cNvPr>
          <p:cNvSpPr txBox="1"/>
          <p:nvPr/>
        </p:nvSpPr>
        <p:spPr>
          <a:xfrm>
            <a:off x="4968031" y="542307"/>
            <a:ext cx="11246225" cy="13245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7200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Prediction Pipeline</a:t>
            </a:r>
          </a:p>
        </p:txBody>
      </p:sp>
    </p:spTree>
    <p:extLst>
      <p:ext uri="{BB962C8B-B14F-4D97-AF65-F5344CB8AC3E}">
        <p14:creationId xmlns:p14="http://schemas.microsoft.com/office/powerpoint/2010/main" val="17808886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DE9E03E8-8900-4848-AA6A-2DB5BEB9AB4C}"/>
              </a:ext>
            </a:extLst>
          </p:cNvPr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4">
            <a:extLst>
              <a:ext uri="{FF2B5EF4-FFF2-40B4-BE49-F238E27FC236}">
                <a16:creationId xmlns:a16="http://schemas.microsoft.com/office/drawing/2014/main" id="{A549E6A6-B504-4DD8-836C-E60FBD328EA7}"/>
              </a:ext>
            </a:extLst>
          </p:cNvPr>
          <p:cNvSpPr txBox="1"/>
          <p:nvPr/>
        </p:nvSpPr>
        <p:spPr>
          <a:xfrm>
            <a:off x="3048000" y="3334674"/>
            <a:ext cx="11400286" cy="880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sz="3268" dirty="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4" name="Freeform 5">
            <a:extLst>
              <a:ext uri="{FF2B5EF4-FFF2-40B4-BE49-F238E27FC236}">
                <a16:creationId xmlns:a16="http://schemas.microsoft.com/office/drawing/2014/main" id="{76D0510D-02B7-4F52-97E6-9836C9FC7B45}"/>
              </a:ext>
            </a:extLst>
          </p:cNvPr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6">
            <a:extLst>
              <a:ext uri="{FF2B5EF4-FFF2-40B4-BE49-F238E27FC236}">
                <a16:creationId xmlns:a16="http://schemas.microsoft.com/office/drawing/2014/main" id="{68428B82-12D4-4AE2-96AD-100C4A7B208E}"/>
              </a:ext>
            </a:extLst>
          </p:cNvPr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4DBEC9A8-CD48-4AE3-9F9B-CF5E477F0357}"/>
              </a:ext>
            </a:extLst>
          </p:cNvPr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12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AB17C2E1-14B3-4C8E-9A17-AE9FEEC81174}"/>
              </a:ext>
            </a:extLst>
          </p:cNvPr>
          <p:cNvSpPr txBox="1"/>
          <p:nvPr/>
        </p:nvSpPr>
        <p:spPr>
          <a:xfrm>
            <a:off x="3048000" y="2795613"/>
            <a:ext cx="13411200" cy="4903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User authentication system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Report saving feature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Voice symptom input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Error handling</a:t>
            </a:r>
          </a:p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Data visualization</a:t>
            </a:r>
          </a:p>
        </p:txBody>
      </p:sp>
      <p:sp>
        <p:nvSpPr>
          <p:cNvPr id="8" name="TextBox 3">
            <a:extLst>
              <a:ext uri="{FF2B5EF4-FFF2-40B4-BE49-F238E27FC236}">
                <a16:creationId xmlns:a16="http://schemas.microsoft.com/office/drawing/2014/main" id="{33377812-3529-4462-B87B-5142E510A307}"/>
              </a:ext>
            </a:extLst>
          </p:cNvPr>
          <p:cNvSpPr txBox="1"/>
          <p:nvPr/>
        </p:nvSpPr>
        <p:spPr>
          <a:xfrm>
            <a:off x="4968031" y="542307"/>
            <a:ext cx="11246225" cy="132459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7200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Others Functionalities</a:t>
            </a:r>
          </a:p>
        </p:txBody>
      </p:sp>
    </p:spTree>
    <p:extLst>
      <p:ext uri="{BB962C8B-B14F-4D97-AF65-F5344CB8AC3E}">
        <p14:creationId xmlns:p14="http://schemas.microsoft.com/office/powerpoint/2010/main" val="27301707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048000" y="3334674"/>
            <a:ext cx="11400286" cy="8801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7200" indent="-457200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endParaRPr lang="en-US" sz="3268" dirty="0">
              <a:solidFill>
                <a:srgbClr val="545454"/>
              </a:solidFill>
              <a:latin typeface="Garet"/>
              <a:ea typeface="Garet"/>
              <a:cs typeface="Garet"/>
              <a:sym typeface="Garet"/>
            </a:endParaRPr>
          </a:p>
        </p:txBody>
      </p:sp>
      <p:sp>
        <p:nvSpPr>
          <p:cNvPr id="5" name="Freeform 5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TextBox 7"/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13</a:t>
            </a:r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6FF234BA-F303-4DD1-BDD5-58D673DDAD15}"/>
              </a:ext>
            </a:extLst>
          </p:cNvPr>
          <p:cNvSpPr txBox="1"/>
          <p:nvPr/>
        </p:nvSpPr>
        <p:spPr>
          <a:xfrm>
            <a:off x="2824826" y="2923885"/>
            <a:ext cx="13939173" cy="49032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457200" indent="-457200" algn="just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AI health system successfully developed</a:t>
            </a:r>
          </a:p>
          <a:p>
            <a:pPr marL="457200" indent="-457200" algn="just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SVM proved effective</a:t>
            </a:r>
          </a:p>
          <a:p>
            <a:pPr marL="457200" indent="-457200" algn="just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Expand disease database</a:t>
            </a:r>
          </a:p>
          <a:p>
            <a:pPr marL="457200" indent="-457200" algn="just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Add mobile application</a:t>
            </a:r>
          </a:p>
          <a:p>
            <a:pPr marL="457200" indent="-457200" algn="just">
              <a:lnSpc>
                <a:spcPct val="200000"/>
              </a:lnSpc>
              <a:spcBef>
                <a:spcPct val="0"/>
              </a:spcBef>
              <a:buFont typeface="Wingdings" panose="05000000000000000000" pitchFamily="2" charset="2"/>
              <a:buChar char="Ø"/>
            </a:pPr>
            <a:r>
              <a:rPr lang="en-US" sz="3268" dirty="0">
                <a:solidFill>
                  <a:srgbClr val="545454"/>
                </a:solidFill>
                <a:latin typeface="Garet"/>
                <a:ea typeface="Garet"/>
                <a:cs typeface="Garet"/>
                <a:sym typeface="Garet"/>
              </a:rPr>
              <a:t>Integrate doctor consultation</a:t>
            </a:r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558063A6-DEE3-48BD-A8CF-9BE6BE864A47}"/>
              </a:ext>
            </a:extLst>
          </p:cNvPr>
          <p:cNvSpPr txBox="1"/>
          <p:nvPr/>
        </p:nvSpPr>
        <p:spPr>
          <a:xfrm>
            <a:off x="4968031" y="694707"/>
            <a:ext cx="9205169" cy="1324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1448"/>
              </a:lnSpc>
            </a:pPr>
            <a:r>
              <a:rPr lang="en-US" sz="7200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6100549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5400000">
            <a:off x="-598671" y="-1743170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668325" y="4041844"/>
            <a:ext cx="12951349" cy="19747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07"/>
              </a:lnSpc>
            </a:pPr>
            <a:r>
              <a:rPr lang="en-US" sz="11505" b="1" dirty="0">
                <a:solidFill>
                  <a:srgbClr val="3F3D3E"/>
                </a:solidFill>
                <a:latin typeface="Alexandria Bold"/>
                <a:ea typeface="Alexandria Bold"/>
                <a:cs typeface="Alexandria Bold"/>
                <a:sym typeface="Alexandria Bold"/>
              </a:rPr>
              <a:t>THANK YOU</a:t>
            </a:r>
          </a:p>
        </p:txBody>
      </p:sp>
      <p:sp>
        <p:nvSpPr>
          <p:cNvPr id="4" name="Freeform 4"/>
          <p:cNvSpPr/>
          <p:nvPr/>
        </p:nvSpPr>
        <p:spPr>
          <a:xfrm rot="-574333">
            <a:off x="-598671" y="5498906"/>
            <a:ext cx="4840370" cy="6758253"/>
          </a:xfrm>
          <a:custGeom>
            <a:avLst/>
            <a:gdLst/>
            <a:ahLst/>
            <a:cxnLst/>
            <a:rect l="l" t="t" r="r" b="b"/>
            <a:pathLst>
              <a:path w="4840370" h="6758253">
                <a:moveTo>
                  <a:pt x="0" y="0"/>
                </a:moveTo>
                <a:lnTo>
                  <a:pt x="4840370" y="0"/>
                </a:lnTo>
                <a:lnTo>
                  <a:pt x="4840370" y="6758253"/>
                </a:lnTo>
                <a:lnTo>
                  <a:pt x="0" y="675825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AutoShape 5"/>
          <p:cNvSpPr/>
          <p:nvPr/>
        </p:nvSpPr>
        <p:spPr>
          <a:xfrm>
            <a:off x="4541415" y="9464180"/>
            <a:ext cx="11672841" cy="0"/>
          </a:xfrm>
          <a:prstGeom prst="line">
            <a:avLst/>
          </a:prstGeom>
          <a:ln w="9525" cap="flat">
            <a:solidFill>
              <a:srgbClr val="545454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TextBox 6"/>
          <p:cNvSpPr txBox="1"/>
          <p:nvPr/>
        </p:nvSpPr>
        <p:spPr>
          <a:xfrm>
            <a:off x="16214256" y="9019603"/>
            <a:ext cx="1271574" cy="817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41"/>
              </a:lnSpc>
              <a:spcBef>
                <a:spcPct val="0"/>
              </a:spcBef>
            </a:pPr>
            <a:r>
              <a:rPr lang="en-US" sz="4743" b="1" dirty="0">
                <a:solidFill>
                  <a:srgbClr val="545454"/>
                </a:solidFill>
                <a:latin typeface="Garet Bold"/>
                <a:ea typeface="Garet Bold"/>
                <a:cs typeface="Garet Bold"/>
                <a:sym typeface="Garet Bold"/>
              </a:rP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524</TotalTime>
  <Words>339</Words>
  <Application>Microsoft Office PowerPoint</Application>
  <PresentationFormat>Custom</PresentationFormat>
  <Paragraphs>100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Calibri</vt:lpstr>
      <vt:lpstr>Arial</vt:lpstr>
      <vt:lpstr>Alexandria Bold</vt:lpstr>
      <vt:lpstr>Garet Bold</vt:lpstr>
      <vt:lpstr>Garet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Grey Minimalist Professional Project Presentation</dc:title>
  <dc:creator>Alam</dc:creator>
  <cp:lastModifiedBy>Alam</cp:lastModifiedBy>
  <cp:revision>33</cp:revision>
  <dcterms:created xsi:type="dcterms:W3CDTF">2006-08-16T00:00:00Z</dcterms:created>
  <dcterms:modified xsi:type="dcterms:W3CDTF">2025-12-26T03:44:20Z</dcterms:modified>
  <dc:identifier>DAG1gzgPtlE</dc:identifier>
</cp:coreProperties>
</file>